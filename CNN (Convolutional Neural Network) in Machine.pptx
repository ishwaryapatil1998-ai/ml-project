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warya r" userId="153ecbf07fd02304" providerId="LiveId" clId="{93EB6DCA-48C5-4B52-8EF8-670C716A8F28}"/>
    <pc:docChg chg="custSel addSld delSld modSld">
      <pc:chgData name="Ishwarya r" userId="153ecbf07fd02304" providerId="LiveId" clId="{93EB6DCA-48C5-4B52-8EF8-670C716A8F28}" dt="2026-10-16T05:46:38.191" v="129" actId="255"/>
      <pc:docMkLst>
        <pc:docMk/>
      </pc:docMkLst>
      <pc:sldChg chg="modSp mod">
        <pc:chgData name="Ishwarya r" userId="153ecbf07fd02304" providerId="LiveId" clId="{93EB6DCA-48C5-4B52-8EF8-670C716A8F28}" dt="2026-10-16T05:46:38.191" v="129" actId="255"/>
        <pc:sldMkLst>
          <pc:docMk/>
          <pc:sldMk cId="1565915374" sldId="256"/>
        </pc:sldMkLst>
        <pc:spChg chg="mod">
          <ac:chgData name="Ishwarya r" userId="153ecbf07fd02304" providerId="LiveId" clId="{93EB6DCA-48C5-4B52-8EF8-670C716A8F28}" dt="2026-10-16T03:56:31.744" v="4" actId="27636"/>
          <ac:spMkLst>
            <pc:docMk/>
            <pc:sldMk cId="1565915374" sldId="256"/>
            <ac:spMk id="2" creationId="{E2A33BC4-B423-25C5-EF1B-064086812BDB}"/>
          </ac:spMkLst>
        </pc:spChg>
        <pc:spChg chg="mod">
          <ac:chgData name="Ishwarya r" userId="153ecbf07fd02304" providerId="LiveId" clId="{93EB6DCA-48C5-4B52-8EF8-670C716A8F28}" dt="2026-10-16T05:46:38.191" v="129" actId="255"/>
          <ac:spMkLst>
            <pc:docMk/>
            <pc:sldMk cId="1565915374" sldId="256"/>
            <ac:spMk id="3" creationId="{2487F39F-0C25-9B2A-A2DA-C912C01521D1}"/>
          </ac:spMkLst>
        </pc:spChg>
      </pc:sldChg>
      <pc:sldChg chg="addSp modSp mod">
        <pc:chgData name="Ishwarya r" userId="153ecbf07fd02304" providerId="LiveId" clId="{93EB6DCA-48C5-4B52-8EF8-670C716A8F28}" dt="2026-10-16T03:58:27.583" v="17" actId="11529"/>
        <pc:sldMkLst>
          <pc:docMk/>
          <pc:sldMk cId="1004033008" sldId="257"/>
        </pc:sldMkLst>
        <pc:spChg chg="mod">
          <ac:chgData name="Ishwarya r" userId="153ecbf07fd02304" providerId="LiveId" clId="{93EB6DCA-48C5-4B52-8EF8-670C716A8F28}" dt="2026-10-16T03:57:40.893" v="14" actId="255"/>
          <ac:spMkLst>
            <pc:docMk/>
            <pc:sldMk cId="1004033008" sldId="257"/>
            <ac:spMk id="3" creationId="{CF6AC8F4-C824-7E8A-6DB4-42B63CBE0CD8}"/>
          </ac:spMkLst>
        </pc:spChg>
        <pc:cxnChg chg="add">
          <ac:chgData name="Ishwarya r" userId="153ecbf07fd02304" providerId="LiveId" clId="{93EB6DCA-48C5-4B52-8EF8-670C716A8F28}" dt="2026-10-16T03:58:06.987" v="15" actId="11529"/>
          <ac:cxnSpMkLst>
            <pc:docMk/>
            <pc:sldMk cId="1004033008" sldId="257"/>
            <ac:cxnSpMk id="4" creationId="{9153B231-1905-20DB-363C-B31564618AFA}"/>
          </ac:cxnSpMkLst>
        </pc:cxnChg>
        <pc:cxnChg chg="add">
          <ac:chgData name="Ishwarya r" userId="153ecbf07fd02304" providerId="LiveId" clId="{93EB6DCA-48C5-4B52-8EF8-670C716A8F28}" dt="2026-10-16T03:58:22.155" v="16" actId="11529"/>
          <ac:cxnSpMkLst>
            <pc:docMk/>
            <pc:sldMk cId="1004033008" sldId="257"/>
            <ac:cxnSpMk id="6" creationId="{3E30C2CA-205C-E1A5-A1F8-F6783B089CA4}"/>
          </ac:cxnSpMkLst>
        </pc:cxnChg>
        <pc:cxnChg chg="add">
          <ac:chgData name="Ishwarya r" userId="153ecbf07fd02304" providerId="LiveId" clId="{93EB6DCA-48C5-4B52-8EF8-670C716A8F28}" dt="2026-10-16T03:58:27.583" v="17" actId="11529"/>
          <ac:cxnSpMkLst>
            <pc:docMk/>
            <pc:sldMk cId="1004033008" sldId="257"/>
            <ac:cxnSpMk id="8" creationId="{9F8D3DBC-E5B1-9D32-3FEE-59C8C40D800A}"/>
          </ac:cxnSpMkLst>
        </pc:cxnChg>
      </pc:sldChg>
      <pc:sldChg chg="addSp mod">
        <pc:chgData name="Ishwarya r" userId="153ecbf07fd02304" providerId="LiveId" clId="{93EB6DCA-48C5-4B52-8EF8-670C716A8F28}" dt="2026-10-16T03:58:44.590" v="19" actId="11529"/>
        <pc:sldMkLst>
          <pc:docMk/>
          <pc:sldMk cId="1524210109" sldId="258"/>
        </pc:sldMkLst>
        <pc:cxnChg chg="add">
          <ac:chgData name="Ishwarya r" userId="153ecbf07fd02304" providerId="LiveId" clId="{93EB6DCA-48C5-4B52-8EF8-670C716A8F28}" dt="2026-10-16T03:58:39.318" v="18" actId="11529"/>
          <ac:cxnSpMkLst>
            <pc:docMk/>
            <pc:sldMk cId="1524210109" sldId="258"/>
            <ac:cxnSpMk id="4" creationId="{DC9D2D3F-866E-C45A-DD7B-0661418E0081}"/>
          </ac:cxnSpMkLst>
        </pc:cxnChg>
        <pc:cxnChg chg="add">
          <ac:chgData name="Ishwarya r" userId="153ecbf07fd02304" providerId="LiveId" clId="{93EB6DCA-48C5-4B52-8EF8-670C716A8F28}" dt="2026-10-16T03:58:44.590" v="19" actId="11529"/>
          <ac:cxnSpMkLst>
            <pc:docMk/>
            <pc:sldMk cId="1524210109" sldId="258"/>
            <ac:cxnSpMk id="6" creationId="{B3CE0DCD-A5A5-8701-E9FB-4AC1A4B69379}"/>
          </ac:cxnSpMkLst>
        </pc:cxnChg>
      </pc:sldChg>
      <pc:sldChg chg="del">
        <pc:chgData name="Ishwarya r" userId="153ecbf07fd02304" providerId="LiveId" clId="{93EB6DCA-48C5-4B52-8EF8-670C716A8F28}" dt="2026-10-16T04:00:59.005" v="20" actId="47"/>
        <pc:sldMkLst>
          <pc:docMk/>
          <pc:sldMk cId="760286651" sldId="266"/>
        </pc:sldMkLst>
      </pc:sldChg>
      <pc:sldChg chg="new del">
        <pc:chgData name="Ishwarya r" userId="153ecbf07fd02304" providerId="LiveId" clId="{93EB6DCA-48C5-4B52-8EF8-670C716A8F28}" dt="2026-10-16T03:56:15.296" v="1" actId="2696"/>
        <pc:sldMkLst>
          <pc:docMk/>
          <pc:sldMk cId="183221401" sldId="267"/>
        </pc:sldMkLst>
      </pc:sldChg>
      <pc:sldChg chg="delSp modSp new mod">
        <pc:chgData name="Ishwarya r" userId="153ecbf07fd02304" providerId="LiveId" clId="{93EB6DCA-48C5-4B52-8EF8-670C716A8F28}" dt="2026-10-16T04:02:19.187" v="31" actId="14100"/>
        <pc:sldMkLst>
          <pc:docMk/>
          <pc:sldMk cId="579454951" sldId="267"/>
        </pc:sldMkLst>
        <pc:spChg chg="mod">
          <ac:chgData name="Ishwarya r" userId="153ecbf07fd02304" providerId="LiveId" clId="{93EB6DCA-48C5-4B52-8EF8-670C716A8F28}" dt="2026-10-16T04:02:19.187" v="31" actId="14100"/>
          <ac:spMkLst>
            <pc:docMk/>
            <pc:sldMk cId="579454951" sldId="267"/>
            <ac:spMk id="2" creationId="{42BAE79C-A69D-2CBE-D02E-FAA53360D09B}"/>
          </ac:spMkLst>
        </pc:spChg>
        <pc:spChg chg="del">
          <ac:chgData name="Ishwarya r" userId="153ecbf07fd02304" providerId="LiveId" clId="{93EB6DCA-48C5-4B52-8EF8-670C716A8F28}" dt="2026-10-16T03:56:47.154" v="7" actId="478"/>
          <ac:spMkLst>
            <pc:docMk/>
            <pc:sldMk cId="579454951" sldId="267"/>
            <ac:spMk id="3" creationId="{204F808D-676E-C63B-D858-EEDE07D6734D}"/>
          </ac:spMkLst>
        </pc:spChg>
      </pc:sldChg>
      <pc:sldChg chg="addSp modSp new mod">
        <pc:chgData name="Ishwarya r" userId="153ecbf07fd02304" providerId="LiveId" clId="{93EB6DCA-48C5-4B52-8EF8-670C716A8F28}" dt="2026-10-16T04:19:59.339" v="65" actId="113"/>
        <pc:sldMkLst>
          <pc:docMk/>
          <pc:sldMk cId="3975643035" sldId="268"/>
        </pc:sldMkLst>
        <pc:spChg chg="add mod">
          <ac:chgData name="Ishwarya r" userId="153ecbf07fd02304" providerId="LiveId" clId="{93EB6DCA-48C5-4B52-8EF8-670C716A8F28}" dt="2026-10-16T04:19:59.339" v="65" actId="113"/>
          <ac:spMkLst>
            <pc:docMk/>
            <pc:sldMk cId="3975643035" sldId="268"/>
            <ac:spMk id="3" creationId="{D47C4B23-BBAE-1251-6D8B-C5F117469974}"/>
          </ac:spMkLst>
        </pc:spChg>
      </pc:sldChg>
      <pc:sldChg chg="addSp modSp new mod">
        <pc:chgData name="Ishwarya r" userId="153ecbf07fd02304" providerId="LiveId" clId="{93EB6DCA-48C5-4B52-8EF8-670C716A8F28}" dt="2026-10-16T04:33:38.529" v="100" actId="14100"/>
        <pc:sldMkLst>
          <pc:docMk/>
          <pc:sldMk cId="3650998266" sldId="269"/>
        </pc:sldMkLst>
        <pc:spChg chg="add mod">
          <ac:chgData name="Ishwarya r" userId="153ecbf07fd02304" providerId="LiveId" clId="{93EB6DCA-48C5-4B52-8EF8-670C716A8F28}" dt="2026-10-16T04:33:38.529" v="100" actId="14100"/>
          <ac:spMkLst>
            <pc:docMk/>
            <pc:sldMk cId="3650998266" sldId="269"/>
            <ac:spMk id="2" creationId="{D9A4AA80-2C9F-5209-8EBE-B57BD0DAE64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C57D-A7CC-3F5A-957F-E4D1B9BA6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392232-BA07-06E0-EEB2-6DA27AF7A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736B-2726-3894-C61F-B274CE12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A7D8A-371F-3148-2E29-CD378D99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23DD4-689D-B8ED-65E1-EAD6802F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7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501E-0AFA-E5C8-DBBE-768A7E23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7FEF-6255-63B1-8F68-29CB3FC79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3577A-4129-EE3F-518C-525441A0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AEABD-0FF5-7830-3B0D-65F858EA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02835-F033-2C86-EF46-BE8CBE21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2C63-9A52-468F-5E9A-0AB8537D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20522-1D69-BAF1-D159-B0861537C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3D8E-D488-6823-EFCF-2CAB07B1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45C3D-2B88-DE4E-A9EC-59BFF275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F5B21-67D4-A565-4AA9-31CA8CFE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301D6-4B74-99A4-79BE-0664AF1CD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98C77-558E-D79E-ABD5-AA870684B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7ABC8-54B7-B738-1A90-2CB1426A3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3B8E7-15B5-13D9-0F1F-B1C4CEED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46AF3-8345-B558-5440-64B84960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545BE-076C-B26D-4A4D-5C17A071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4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1DB6D-314C-5BF1-7B61-4879ED80E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556D6-2254-765F-8C98-9261E8A44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9B696-91B8-CAF5-BFE0-6C821F1B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AC42C-0352-B4AE-FB11-31A231E0A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A01A3-8C3F-70E9-FE5E-D36D7BFD6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C4C593-9926-27E4-9DAA-8F2B380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BB8037-94D0-F998-918D-65B6409D2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D9229D-62B4-917A-C914-53D4A6F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9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ADA7-A66D-8DFC-64D7-F3B077CA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A791E-6A63-FEFA-8A5B-A2E90A12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73E1F-6ED1-BFE4-1F48-D831F777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0F57AA-0B4F-3924-6B13-D4A9F41A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49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6E413-F702-AB28-F7D8-D8FEC9A2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EF980-8EAE-1708-7E25-5CF4779F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C3E46-4FDC-8DD2-3908-8626CA91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627F-43DF-8841-0FAF-BBC9E2DFB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C2D2-2A74-7D0E-9F09-0E63221C3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A2EE0-6B96-E569-1DBD-020201E3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1225C-C14A-0D3A-4430-F7472260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3D47E-9B5D-3298-702E-AB1F7D76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EC636-38AC-9C20-0019-B4B4CD8E1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AD06-4449-E23C-B08D-955D9400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D250E-CADE-7CC5-BD01-EF21216F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86846-EE8E-84AD-1110-695B46DF1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0DD74-108E-A587-2579-ED2F5220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38D3B-4097-C020-25A2-F449706D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22549-E2BD-0DF0-17C8-FBECF3D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5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02D4-536D-77A4-57D8-E6B3B8B2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69FB1-D939-8791-45AD-6D4D19228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9D31-E264-5156-D547-0AF72D23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BDC30-1DA8-760A-3512-9DCB2306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168C-46E1-B606-4C99-5BE8B220C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60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05AB1-7998-1CAB-9DFC-23CBC7D81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45BA2-02F0-0443-F8FA-F73135956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26DAC-8B7A-4BBD-5F38-9042EE7F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8948-29EA-FB8E-8B38-87D3EA964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14AD3-B5F3-C901-484E-48204CFF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5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7BC1B-21B6-95B9-3214-61B1819C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50A88-8976-A49A-1D40-C4E61AE6D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5F33D-A017-5C70-155D-31A2BB4D8A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8EE30-F039-491F-93F9-5BFE327CC0B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3D205-5E49-B570-594F-27BAE9CE5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1D8A-0D49-B6EC-B2FA-FD9817E79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8BC7B-B228-40E5-AD47-8545FA6A9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6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E79C-A69D-2CBE-D02E-FAA53360D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557" y="2098623"/>
            <a:ext cx="11047751" cy="2083633"/>
          </a:xfrm>
        </p:spPr>
        <p:txBody>
          <a:bodyPr>
            <a:normAutofit/>
          </a:bodyPr>
          <a:lstStyle/>
          <a:p>
            <a:r>
              <a:rPr lang="en-US" b="1" dirty="0"/>
              <a:t>CNN (Convolutional Neural Network) in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5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3BC4-B423-25C5-EF1B-064086812B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7F39F-0C25-9B2A-A2DA-C912C0152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99410"/>
            <a:ext cx="9144000" cy="5771214"/>
          </a:xfrm>
        </p:spPr>
        <p:txBody>
          <a:bodyPr>
            <a:normAutofit/>
          </a:bodyPr>
          <a:lstStyle/>
          <a:p>
            <a:r>
              <a:rPr lang="en-US" sz="2800" b="1" dirty="0"/>
              <a:t>1.What is CNN</a:t>
            </a:r>
          </a:p>
          <a:p>
            <a:endParaRPr lang="en-US" sz="2800" dirty="0"/>
          </a:p>
          <a:p>
            <a:r>
              <a:rPr lang="en-US" sz="2800" dirty="0"/>
              <a:t>A CNN (Convolutional Neural Network) is a type of deep learning algorithm mainly used to analyze images and recognize visual patterns.</a:t>
            </a:r>
          </a:p>
          <a:p>
            <a:endParaRPr lang="en-US" sz="2800" dirty="0"/>
          </a:p>
          <a:p>
            <a:r>
              <a:rPr lang="en-US" sz="2800" dirty="0"/>
              <a:t>It can automatically identify features such as edges, shapes, colors, textures, and objects from images. </a:t>
            </a:r>
          </a:p>
          <a:p>
            <a:endParaRPr lang="en-US" sz="2800" dirty="0"/>
          </a:p>
          <a:p>
            <a:r>
              <a:rPr lang="en-US" sz="2800" dirty="0"/>
              <a:t>Simple example: A CNN can learn to identify whether an image contains an apple or a banana.</a:t>
            </a:r>
          </a:p>
        </p:txBody>
      </p:sp>
    </p:spTree>
    <p:extLst>
      <p:ext uri="{BB962C8B-B14F-4D97-AF65-F5344CB8AC3E}">
        <p14:creationId xmlns:p14="http://schemas.microsoft.com/office/powerpoint/2010/main" val="1565915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6AC8F4-C824-7E8A-6DB4-42B63CBE0CD8}"/>
              </a:ext>
            </a:extLst>
          </p:cNvPr>
          <p:cNvSpPr txBox="1"/>
          <p:nvPr/>
        </p:nvSpPr>
        <p:spPr>
          <a:xfrm>
            <a:off x="884420" y="269823"/>
            <a:ext cx="1014834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2. CNN Architecture</a:t>
            </a:r>
          </a:p>
          <a:p>
            <a:pPr>
              <a:buNone/>
            </a:pPr>
            <a:r>
              <a:rPr lang="en-US" sz="2000" dirty="0"/>
              <a:t>The architecture describes how data passes through different layers to produce a prediction.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                                                               1. Input Layer </a:t>
            </a:r>
          </a:p>
          <a:p>
            <a:r>
              <a:rPr lang="en-US" sz="2000" dirty="0"/>
              <a:t>                                                                            </a:t>
            </a:r>
          </a:p>
          <a:p>
            <a:r>
              <a:rPr lang="en-US" sz="2000" dirty="0"/>
              <a:t>                                            Receives the image as pixel values.</a:t>
            </a:r>
          </a:p>
          <a:p>
            <a:endParaRPr lang="en-US" sz="2000" dirty="0"/>
          </a:p>
          <a:p>
            <a:r>
              <a:rPr lang="en-US" sz="2000" dirty="0"/>
              <a:t>                                                              2. Convolutional Layer</a:t>
            </a:r>
          </a:p>
          <a:p>
            <a:endParaRPr lang="en-US" sz="2000" dirty="0"/>
          </a:p>
          <a:p>
            <a:r>
              <a:rPr lang="en-US" sz="2000" dirty="0"/>
              <a:t>                            Uses filters to extract features such as edges, colors and textures.</a:t>
            </a:r>
          </a:p>
          <a:p>
            <a:endParaRPr lang="en-US" sz="2000" dirty="0"/>
          </a:p>
          <a:p>
            <a:r>
              <a:rPr lang="en-US" sz="2000" dirty="0"/>
              <a:t>                                                             3. </a:t>
            </a:r>
            <a:r>
              <a:rPr lang="en-US" sz="2000" dirty="0" err="1"/>
              <a:t>ReLU</a:t>
            </a:r>
            <a:r>
              <a:rPr lang="en-US" sz="2000" dirty="0"/>
              <a:t> Activation</a:t>
            </a:r>
          </a:p>
          <a:p>
            <a:endParaRPr lang="en-US" sz="2000" dirty="0"/>
          </a:p>
          <a:p>
            <a:r>
              <a:rPr lang="en-US" sz="2000" dirty="0"/>
              <a:t>                           Introduces non-linearity so the model can learn complex patterns.</a:t>
            </a:r>
          </a:p>
          <a:p>
            <a:endParaRPr lang="en-US" sz="2000" dirty="0"/>
          </a:p>
          <a:p>
            <a:r>
              <a:rPr lang="en-US" sz="2000" dirty="0"/>
              <a:t>                                                            4. Pooling Layer</a:t>
            </a:r>
          </a:p>
          <a:p>
            <a:endParaRPr lang="en-US" sz="2000" dirty="0"/>
          </a:p>
          <a:p>
            <a:r>
              <a:rPr lang="en-US" sz="2000" dirty="0"/>
              <a:t>                          Reduces the feature-map size while retaining important information.</a:t>
            </a:r>
          </a:p>
          <a:p>
            <a:pPr>
              <a:buNone/>
            </a:pPr>
            <a:endParaRPr lang="en-US" sz="2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53B231-1905-20DB-363C-B31564618AFA}"/>
              </a:ext>
            </a:extLst>
          </p:cNvPr>
          <p:cNvCxnSpPr/>
          <p:nvPr/>
        </p:nvCxnSpPr>
        <p:spPr>
          <a:xfrm>
            <a:off x="5381469" y="2833141"/>
            <a:ext cx="0" cy="254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E30C2CA-205C-E1A5-A1F8-F6783B089CA4}"/>
              </a:ext>
            </a:extLst>
          </p:cNvPr>
          <p:cNvCxnSpPr/>
          <p:nvPr/>
        </p:nvCxnSpPr>
        <p:spPr>
          <a:xfrm>
            <a:off x="5486400" y="3987384"/>
            <a:ext cx="0" cy="359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8D3DBC-E5B1-9D32-3FEE-59C8C40D800A}"/>
              </a:ext>
            </a:extLst>
          </p:cNvPr>
          <p:cNvCxnSpPr/>
          <p:nvPr/>
        </p:nvCxnSpPr>
        <p:spPr>
          <a:xfrm>
            <a:off x="5381469" y="5246557"/>
            <a:ext cx="0" cy="284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033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01E7F4-5839-F7E1-85CD-7267114B6874}"/>
              </a:ext>
            </a:extLst>
          </p:cNvPr>
          <p:cNvSpPr txBox="1"/>
          <p:nvPr/>
        </p:nvSpPr>
        <p:spPr>
          <a:xfrm>
            <a:off x="599607" y="989351"/>
            <a:ext cx="111826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                                                          5. Flatten Layer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                         Converts the feature maps into a one-dimensional array.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                                                   6. Fully Connected Layer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                         Combines the extracted features to make a classification.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                                                   7. Output Layer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                          Produces the final prediction, such as Apple or Banana.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9D2D3F-866E-C45A-DD7B-0661418E0081}"/>
              </a:ext>
            </a:extLst>
          </p:cNvPr>
          <p:cNvCxnSpPr/>
          <p:nvPr/>
        </p:nvCxnSpPr>
        <p:spPr>
          <a:xfrm>
            <a:off x="5891134" y="2188564"/>
            <a:ext cx="0" cy="344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CE0DCD-A5A5-8701-E9FB-4AC1A4B69379}"/>
              </a:ext>
            </a:extLst>
          </p:cNvPr>
          <p:cNvCxnSpPr/>
          <p:nvPr/>
        </p:nvCxnSpPr>
        <p:spPr>
          <a:xfrm>
            <a:off x="5741233" y="3597639"/>
            <a:ext cx="0" cy="404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21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E32A6-1A74-F2DD-48A3-4C393C80BC5C}"/>
              </a:ext>
            </a:extLst>
          </p:cNvPr>
          <p:cNvSpPr txBox="1"/>
          <p:nvPr/>
        </p:nvSpPr>
        <p:spPr>
          <a:xfrm>
            <a:off x="2068643" y="239843"/>
            <a:ext cx="70716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One real-time example: Fruit Freshness Detection 🍎</a:t>
            </a:r>
          </a:p>
          <a:p>
            <a:pPr>
              <a:buNone/>
            </a:pPr>
            <a:r>
              <a:rPr lang="en-US" dirty="0"/>
              <a:t>Imagine building a CNN model to classify fruits as Fresh or Rotten.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Fresh fruit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Red Apple">
            <a:extLst>
              <a:ext uri="{FF2B5EF4-FFF2-40B4-BE49-F238E27FC236}">
                <a16:creationId xmlns:a16="http://schemas.microsoft.com/office/drawing/2014/main" id="{06ECC90C-85AB-98C7-F36F-2220AD2D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133" y="1967659"/>
            <a:ext cx="8212737" cy="48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3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BEC114-81A0-AF13-B725-7B5CE9B669AA}"/>
              </a:ext>
            </a:extLst>
          </p:cNvPr>
          <p:cNvSpPr txBox="1"/>
          <p:nvPr/>
        </p:nvSpPr>
        <p:spPr>
          <a:xfrm>
            <a:off x="3046751" y="3102087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Rotten fruit</a:t>
            </a:r>
          </a:p>
          <a:p>
            <a:pPr>
              <a:buNone/>
            </a:pPr>
            <a:r>
              <a:rPr lang="en-US"/>
              <a:t>How it works:</a:t>
            </a:r>
          </a:p>
        </p:txBody>
      </p:sp>
      <p:pic>
        <p:nvPicPr>
          <p:cNvPr id="8" name="Picture 7" descr="rotten apple isolated on a white background">
            <a:extLst>
              <a:ext uri="{FF2B5EF4-FFF2-40B4-BE49-F238E27FC236}">
                <a16:creationId xmlns:a16="http://schemas.microsoft.com/office/drawing/2014/main" id="{8151514A-109D-DE35-4906-2A5C7FC99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620" y="1439056"/>
            <a:ext cx="6326760" cy="4558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9FDC61-0D4D-BC6D-2726-B125A4F94F74}"/>
              </a:ext>
            </a:extLst>
          </p:cNvPr>
          <p:cNvSpPr txBox="1"/>
          <p:nvPr/>
        </p:nvSpPr>
        <p:spPr>
          <a:xfrm>
            <a:off x="4631961" y="490728"/>
            <a:ext cx="6771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Rotten fruit </a:t>
            </a:r>
          </a:p>
        </p:txBody>
      </p:sp>
    </p:spTree>
    <p:extLst>
      <p:ext uri="{BB962C8B-B14F-4D97-AF65-F5344CB8AC3E}">
        <p14:creationId xmlns:p14="http://schemas.microsoft.com/office/powerpoint/2010/main" val="89293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EDF99-D222-294C-194F-FC94E1D52F50}"/>
              </a:ext>
            </a:extLst>
          </p:cNvPr>
          <p:cNvSpPr txBox="1"/>
          <p:nvPr/>
        </p:nvSpPr>
        <p:spPr>
          <a:xfrm>
            <a:off x="899411" y="1214203"/>
            <a:ext cx="112925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How it works: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/>
              <a:t>Collect images of fresh and rotten fruits.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/>
              <a:t>Train the CNN using labeled images.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/>
              <a:t>The convolution layers learn visual patterns such as spots, discoloration and texture.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/>
              <a:t>The pooling layers reduce the feature-map dimensions.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/>
              <a:t>The output layer predicts whether a new fruit image is fresh or rotten.</a:t>
            </a:r>
          </a:p>
          <a:p>
            <a:pPr>
              <a:buNone/>
            </a:pPr>
            <a:r>
              <a:rPr lang="en-US" sz="2800" dirty="0"/>
              <a:t>Result: When a new fruit image is uploaded, the model predicts its category based on the patterns learned during training.</a:t>
            </a:r>
          </a:p>
          <a:p>
            <a:pPr>
              <a:buNone/>
            </a:pPr>
            <a:r>
              <a:rPr lang="en-US" sz="2800" dirty="0"/>
              <a:t>This is useful for fruit-sorting systems, quality inspection and agricultural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20097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5FD81C-00DC-3EFC-513F-3F946B8111DF}"/>
              </a:ext>
            </a:extLst>
          </p:cNvPr>
          <p:cNvSpPr txBox="1"/>
          <p:nvPr/>
        </p:nvSpPr>
        <p:spPr>
          <a:xfrm>
            <a:off x="1543986" y="464695"/>
            <a:ext cx="88891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4. Advantages of CNN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Automatic feature extraction: No need to manually define every visual feature.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High accuracy: Can perform very well on image-recognition tasks when trained appropriately.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Handles complex images: Learns patterns such as shapes, textures and objects.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Parameter sharing: Reuses filters across image locations, reducing the number of parameters compared with many fully connected approaches.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Wide range of applications: Useful in healthcare imaging, facial recognition, agriculture and autonomous vehicles. </a:t>
            </a:r>
          </a:p>
        </p:txBody>
      </p:sp>
    </p:spTree>
    <p:extLst>
      <p:ext uri="{BB962C8B-B14F-4D97-AF65-F5344CB8AC3E}">
        <p14:creationId xmlns:p14="http://schemas.microsoft.com/office/powerpoint/2010/main" val="127333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8E0267-8F24-A145-7613-4393817C6D3C}"/>
              </a:ext>
            </a:extLst>
          </p:cNvPr>
          <p:cNvSpPr txBox="1"/>
          <p:nvPr/>
        </p:nvSpPr>
        <p:spPr>
          <a:xfrm>
            <a:off x="1409075" y="509666"/>
            <a:ext cx="920396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5. Disadvantages of CNN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Requires large datasets: Good performance often depends on having sufficient, representative training images.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High computational cost: Training complex CNNs can require powerful GPUs.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Training takes time: Large models and datasets may take a long time to train.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Risk of overfitting: The model may perform well on training images but poorly on new images.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Limited interpretability: It can be difficult to understand exactly why the model made a particular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/>
              <a:t>PMC</a:t>
            </a:r>
          </a:p>
        </p:txBody>
      </p:sp>
    </p:spTree>
    <p:extLst>
      <p:ext uri="{BB962C8B-B14F-4D97-AF65-F5344CB8AC3E}">
        <p14:creationId xmlns:p14="http://schemas.microsoft.com/office/powerpoint/2010/main" val="27187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6D9652-C8A1-A2FB-F28E-5FBDACBEC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374859"/>
              </p:ext>
            </p:extLst>
          </p:nvPr>
        </p:nvGraphicFramePr>
        <p:xfrm>
          <a:off x="422223" y="460948"/>
          <a:ext cx="11347554" cy="5936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73777">
                  <a:extLst>
                    <a:ext uri="{9D8B030D-6E8A-4147-A177-3AD203B41FA5}">
                      <a16:colId xmlns:a16="http://schemas.microsoft.com/office/drawing/2014/main" val="3314013321"/>
                    </a:ext>
                  </a:extLst>
                </a:gridCol>
                <a:gridCol w="5673777">
                  <a:extLst>
                    <a:ext uri="{9D8B030D-6E8A-4147-A177-3AD203B41FA5}">
                      <a16:colId xmlns:a16="http://schemas.microsoft.com/office/drawing/2014/main" val="1319402281"/>
                    </a:ext>
                  </a:extLst>
                </a:gridCol>
              </a:tblGrid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Main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554333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Receives an image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722195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894169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Adds non-linearity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795891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Reduces dimensions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389933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Flatten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features into a vector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834865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Fully 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Makes a classification 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946050"/>
                  </a:ext>
                </a:extLst>
              </a:tr>
              <a:tr h="742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Gives the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487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37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5D408-8346-DE55-3E07-CAB6C4458F96}"/>
              </a:ext>
            </a:extLst>
          </p:cNvPr>
          <p:cNvSpPr txBox="1"/>
          <p:nvPr/>
        </p:nvSpPr>
        <p:spPr>
          <a:xfrm rot="10800000" flipV="1">
            <a:off x="2383435" y="2752928"/>
            <a:ext cx="79597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Remember: CNN = Image input → Feature extraction → Feature reduction → Classification → Prediction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62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C4B23-BBAE-1251-6D8B-C5F117469974}"/>
              </a:ext>
            </a:extLst>
          </p:cNvPr>
          <p:cNvSpPr txBox="1"/>
          <p:nvPr/>
        </p:nvSpPr>
        <p:spPr>
          <a:xfrm>
            <a:off x="839450" y="914399"/>
            <a:ext cx="1061303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Real-World Applications of CNN (Convolutional Neural Network):</a:t>
            </a:r>
          </a:p>
          <a:p>
            <a:endParaRPr lang="en-US" sz="3200" dirty="0"/>
          </a:p>
          <a:p>
            <a:pPr marL="342900" indent="-342900">
              <a:buAutoNum type="arabicPeriod"/>
            </a:pPr>
            <a:r>
              <a:rPr lang="en-US" sz="2800" dirty="0"/>
              <a:t>Number Plate Recognition</a:t>
            </a:r>
          </a:p>
          <a:p>
            <a:pPr marL="342900" indent="-342900">
              <a:buAutoNum type="arabicPeriod"/>
            </a:pPr>
            <a:r>
              <a:rPr lang="en-US" sz="2800" dirty="0"/>
              <a:t>Medical Image Analysis</a:t>
            </a:r>
          </a:p>
          <a:p>
            <a:pPr marL="342900" indent="-342900">
              <a:buAutoNum type="arabicPeriod"/>
            </a:pPr>
            <a:r>
              <a:rPr lang="en-US" sz="2800" dirty="0"/>
              <a:t>Fruit Freshness Detection</a:t>
            </a:r>
          </a:p>
          <a:p>
            <a:pPr marL="342900" indent="-342900">
              <a:buAutoNum type="arabicPeriod"/>
            </a:pPr>
            <a:r>
              <a:rPr lang="en-US" sz="2800" dirty="0"/>
              <a:t>Face Recognition</a:t>
            </a:r>
          </a:p>
          <a:p>
            <a:pPr marL="342900" indent="-342900">
              <a:buAutoNum type="arabicPeriod"/>
            </a:pPr>
            <a:r>
              <a:rPr lang="en-US" sz="2800" dirty="0"/>
              <a:t>Self-Driving Cars</a:t>
            </a:r>
          </a:p>
          <a:p>
            <a:pPr marL="342900" indent="-342900">
              <a:buAutoNum type="arabicPeriod"/>
            </a:pPr>
            <a:r>
              <a:rPr lang="en-US" sz="2800" dirty="0"/>
              <a:t>Defect Detection in Industries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643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A4AA80-2C9F-5209-8EBE-B57BD0DAE640}"/>
              </a:ext>
            </a:extLst>
          </p:cNvPr>
          <p:cNvSpPr txBox="1"/>
          <p:nvPr/>
        </p:nvSpPr>
        <p:spPr>
          <a:xfrm rot="10800000" flipV="1">
            <a:off x="1993692" y="2508182"/>
            <a:ext cx="66256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0998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582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CNN (Convolutional Neural Network) in Machine Learning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Ishwarya r</dc:creator>
  <cp:lastModifiedBy>Ishwarya r</cp:lastModifiedBy>
  <cp:revision>2</cp:revision>
  <dcterms:created xsi:type="dcterms:W3CDTF">2026-10-15T14:18:40Z</dcterms:created>
  <dcterms:modified xsi:type="dcterms:W3CDTF">2026-10-16T05:46:42Z</dcterms:modified>
</cp:coreProperties>
</file>